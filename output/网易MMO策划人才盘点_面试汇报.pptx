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38beaf3408452b" /><Relationship Type="http://schemas.openxmlformats.org/officeDocument/2006/relationships/extended-properties" Target="/docProps/app.xml" Id="R9f07fffa99284990" /><Relationship Type="http://schemas.openxmlformats.org/officeDocument/2006/relationships/officeDocument" Target="/ppt/presentation.xml" Id="Reb21b68542c441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8070feba73461a"/>
  </p:sldMasterIdLst>
  <p:notesMasterIdLst>
    <p:notesMasterId xmlns:r="http://schemas.openxmlformats.org/officeDocument/2006/relationships" r:id="R9d2d8d00edfd4628"/>
  </p:notesMasterIdLst>
  <p:sldIdLst>
    <p:sldId xmlns:r="http://schemas.openxmlformats.org/officeDocument/2006/relationships" id="256" r:id="Reade3d71fb1649eb"/>
    <p:sldId xmlns:r="http://schemas.openxmlformats.org/officeDocument/2006/relationships" id="257" r:id="R997fc2bf88914db1"/>
    <p:sldId xmlns:r="http://schemas.openxmlformats.org/officeDocument/2006/relationships" id="258" r:id="Rf0f46c02e99447d8"/>
    <p:sldId xmlns:r="http://schemas.openxmlformats.org/officeDocument/2006/relationships" id="259" r:id="R6d9487e04c4e493a"/>
    <p:sldId xmlns:r="http://schemas.openxmlformats.org/officeDocument/2006/relationships" id="260" r:id="R1d694db113a047d7"/>
    <p:sldId xmlns:r="http://schemas.openxmlformats.org/officeDocument/2006/relationships" id="261" r:id="Rbf570cb0cdb940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18c9a134f343c4" /><Relationship Type="http://schemas.openxmlformats.org/officeDocument/2006/relationships/slideMaster" Target="/ppt/slideMasters/slideMaster1.xml" Id="R368070feba73461a" /><Relationship Type="http://schemas.openxmlformats.org/officeDocument/2006/relationships/notesMaster" Target="/ppt/notesMasters/notesMaster1.xml" Id="R9d2d8d00edfd4628" /><Relationship Type="http://schemas.openxmlformats.org/officeDocument/2006/relationships/presProps" Target="/ppt/presProps.xml" Id="R6d2c6ab4478745f2" /><Relationship Type="http://schemas.openxmlformats.org/officeDocument/2006/relationships/tableStyles" Target="/ppt/tableStyles.xml" Id="R71239ec6237e47be" /><Relationship Type="http://schemas.openxmlformats.org/officeDocument/2006/relationships/slide" Target="/ppt/slides/slide1.xml" Id="Reade3d71fb1649eb" /><Relationship Type="http://schemas.openxmlformats.org/officeDocument/2006/relationships/slide" Target="/ppt/slides/slide2.xml" Id="R997fc2bf88914db1" /><Relationship Type="http://schemas.openxmlformats.org/officeDocument/2006/relationships/slide" Target="/ppt/slides/slide3.xml" Id="Rf0f46c02e99447d8" /><Relationship Type="http://schemas.openxmlformats.org/officeDocument/2006/relationships/slide" Target="/ppt/slides/slide4.xml" Id="R6d9487e04c4e493a" /><Relationship Type="http://schemas.openxmlformats.org/officeDocument/2006/relationships/slide" Target="/ppt/slides/slide5.xml" Id="R1d694db113a047d7" /><Relationship Type="http://schemas.openxmlformats.org/officeDocument/2006/relationships/slide" Target="/ppt/slides/slide6.xml" Id="Rbf570cb0cdb940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46c18d4cba43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a366c640f44f6a" /><Relationship Type="http://schemas.openxmlformats.org/officeDocument/2006/relationships/notesMaster" Target="/ppt/notesMasters/notesMaster1.xml" Id="Rff11209fafc342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cfac539ca24cbf" /><Relationship Type="http://schemas.openxmlformats.org/officeDocument/2006/relationships/notesMaster" Target="/ppt/notesMasters/notesMaster1.xml" Id="R8d5dcc3a08504a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221d8fcd594d6a" /><Relationship Type="http://schemas.openxmlformats.org/officeDocument/2006/relationships/notesMaster" Target="/ppt/notesMasters/notesMaster1.xml" Id="Rf96b0bb5bc0e44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3801f0249a4c82" /><Relationship Type="http://schemas.openxmlformats.org/officeDocument/2006/relationships/notesMaster" Target="/ppt/notesMasters/notesMaster1.xml" Id="R32420293186641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c8a11f7e8447c3" /><Relationship Type="http://schemas.openxmlformats.org/officeDocument/2006/relationships/notesMaster" Target="/ppt/notesMasters/notesMaster1.xml" Id="Rb8bae703a1fb42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a5e8ec47a74474" /><Relationship Type="http://schemas.openxmlformats.org/officeDocument/2006/relationships/notesMaster" Target="/ppt/notesMasters/notesMaster1.xml" Id="R7ac993ff997243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开场：这不是给所有岗位套同一张九宫格，而是针对老项目孵化新项目的 MMO 策划团队，建立连续的证据与决策闭环。图片为 AI 生成的概念插画，不代表网易实际项目。网页使用模拟数据。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传统九宫格仍保留，用于季度校准和人才结构沟通；但不能作为日常唯一入口。这里的问题来自题目背景和对传统盘点方法的归纳，不是对网易内部现状的断言。参考：CIPD Talent Management Guide https://www.cipd.org/en/knowledge/guides/talent-management/；SHRM Outside the 9-Box https://www.shrm.org/in/executive-network/insights/people-strategy/outside-the-9-box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这一页是面试方案提出的岗位画像，不是网易官方任职资格。系统允许 HRBP 和业务负责人配置岗位权重、项目阶段与证据要求。MMO 长线运营需要持续关注玩家反馈和系统经济。外部参考：GDC Game Economy session https://schedule.gdconf.com/session/lets-play-economics-a-live-trading-game-on-asymmetry-and-incentives-presented-by-the-igda/915255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频次和负担分开：不是每周都重评分。日常只记录关键事件；月度短会只看变化与异常；季度才做正式人才校准。信号要有时效衰减，不能让早期好评永久锁定标签。决策一定回到培养、轮岗、继任和复查。频次为试点建议，不是网易现行制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现场演示建议：先打开总览，再确认一条待审核信号，看证据与诊断变化；进入人员详情人工校准，填理由；新增一个培养行动，最后打印报告。若 GitHub Pages 未启用，需预先开启仓库 Settings → Pages → Source: GitHub Actions。网站静态部署，模拟数据存浏览器本地；不上传真实敏感人事数据。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可选 DeepSeek 仅为现场演示功能，API Key 由用户在浏览器当前会话输入，不进代码仓库，也不存 localStorage。真实企业落地需要服务端代理、权限控制、脱敏、审计、数据保留与模型合规评估。试点指标均为建议，暂无真实基线，不承诺具体改善比例。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719ba0ed634d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0028f1ab1046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54a14b818640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2182b078844f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b6103eaff5441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153624feda49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291E02-957F-46A8-87DA-8B773BA418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AB75080-DBED-4564-B8D1-604FA94FF4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05E60A4-36D2-4379-960F-1DFC62F999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BDA966-E4B7-4A55-88FB-4F3C1E4612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D16E4D7-513B-4AB4-8D29-72DE370B9F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229C45-8474-4AA1-8D57-62A0D1B218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CE5FCC-DD63-4091-A7AC-466894FB77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3C67B2-C245-4498-9BA4-AB474B5CDA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05CFBF-4DCF-416B-B126-05667E9C02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1C096F-D0BE-4100-AF7F-2712C75AA6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ac943b06554ace" /><Relationship Type="http://schemas.openxmlformats.org/officeDocument/2006/relationships/slideLayout" Target="/ppt/slideLayouts/slideLayout1.xml" Id="R81ff6fddb473472d" /><Relationship Type="http://schemas.openxmlformats.org/officeDocument/2006/relationships/slideLayout" Target="/ppt/slideLayouts/slideLayout2.xml" Id="Rf1aad52cb66b4445" /><Relationship Type="http://schemas.openxmlformats.org/officeDocument/2006/relationships/slideLayout" Target="/ppt/slideLayouts/slideLayout3.xml" Id="R25589c40e28042c2" /><Relationship Type="http://schemas.openxmlformats.org/officeDocument/2006/relationships/slideLayout" Target="/ppt/slideLayouts/slideLayout4.xml" Id="R778a454d7e174fff" /><Relationship Type="http://schemas.openxmlformats.org/officeDocument/2006/relationships/slideLayout" Target="/ppt/slideLayouts/slideLayout5.xml" Id="R4ef0eb687bc54710" /><Relationship Type="http://schemas.openxmlformats.org/officeDocument/2006/relationships/slideLayout" Target="/ppt/slideLayouts/slideLayout6.xml" Id="R909c48f511804b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ff6fddb473472d"/>
    <p:sldLayoutId xmlns:r="http://schemas.openxmlformats.org/officeDocument/2006/relationships" id="2147483650" r:id="Rf1aad52cb66b4445"/>
    <p:sldLayoutId xmlns:r="http://schemas.openxmlformats.org/officeDocument/2006/relationships" id="2147483651" r:id="R25589c40e28042c2"/>
    <p:sldLayoutId xmlns:r="http://schemas.openxmlformats.org/officeDocument/2006/relationships" id="2147483652" r:id="R778a454d7e174fff"/>
    <p:sldLayoutId xmlns:r="http://schemas.openxmlformats.org/officeDocument/2006/relationships" id="2147483653" r:id="R4ef0eb687bc54710"/>
    <p:sldLayoutId xmlns:r="http://schemas.openxmlformats.org/officeDocument/2006/relationships" id="2147483654" r:id="R909c48f511804b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097e571fcb4936" /><Relationship Type="http://schemas.openxmlformats.org/officeDocument/2006/relationships/image" Target="/ppt/media/image.png" Id="R9d562872201d4484" /><Relationship Type="http://schemas.openxmlformats.org/officeDocument/2006/relationships/notesSlide" Target="/ppt/notesSlides/notesSlide1.xml" Id="Ra3f864ab78eb4a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f1f97d91fe4877" /><Relationship Type="http://schemas.openxmlformats.org/officeDocument/2006/relationships/notesSlide" Target="/ppt/notesSlides/notesSlide2.xml" Id="R8733ee57542547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73f4ad8e754b5e" /><Relationship Type="http://schemas.openxmlformats.org/officeDocument/2006/relationships/notesSlide" Target="/ppt/notesSlides/notesSlide3.xml" Id="R19b2674c706242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81ee51496a4e4f" /><Relationship Type="http://schemas.openxmlformats.org/officeDocument/2006/relationships/notesSlide" Target="/ppt/notesSlides/notesSlide4.xml" Id="Ra5a516b706654f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e52892806c4780" /><Relationship Type="http://schemas.openxmlformats.org/officeDocument/2006/relationships/notesSlide" Target="/ppt/notesSlides/notesSlide5.xml" Id="R3f8a84c03f8148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ad235110ab4bdd" /><Relationship Type="http://schemas.openxmlformats.org/officeDocument/2006/relationships/notesSlide" Target="/ppt/notesSlides/notesSlide6.xml" Id="Rc7d094dbd90148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F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28C08-BE35-4FA8-9641-44D7B4C205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62872201d4484"/>
          <a:srcRect xmlns:a="http://schemas.openxmlformats.org/drawingml/2006/main" l="20101" t="0" r="20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05375" y="0"/>
            <a:ext cx="72866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0DF61-0B4A-4AAD-AC4E-180D34DB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3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BB70C-F2BA-4D70-AB3D-3A486A9B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0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289CF-7E19-4AA0-951A-DF135AFC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7B05D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E7B05D"/>
                </a:solidFill>
              </a:defRPr>
            </a:pPr>
            <a:r>
              <a:rPr sz="1200" b="1">
                <a:solidFill>
                  <a:srgbClr val="E7B05D"/>
                </a:solidFill>
              </a:rPr>
              <a:t>网易星火人力管培生 · 作业四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41C76-3446-4F89-A21B-762DBA77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3338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网易 MMO 策划</a:t>
            </a:r>
          </a:p>
          <a:p xmlns:a="http://schemas.openxmlformats.org/drawingml/2006/main">
            <a:pPr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人才盘点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2F12F-5DB6-4502-82BF-5FAB1913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0E5E6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0E5E6"/>
                </a:solidFill>
              </a:defRPr>
            </a:pPr>
            <a:r>
              <a:rPr sz="1800" b="0">
                <a:solidFill>
                  <a:srgbClr val="D0E5E6"/>
                </a:solidFill>
              </a:rPr>
              <a:t>从半年一评，转向项目事件驱动的</a:t>
            </a:r>
          </a:p>
          <a:p xmlns:a="http://schemas.openxmlformats.org/drawingml/2006/main">
            <a:pPr>
              <a:defRPr sz="1800" b="0">
                <a:solidFill>
                  <a:srgbClr val="D0E5E6"/>
                </a:solidFill>
              </a:defRPr>
            </a:pPr>
            <a:r>
              <a:rPr sz="1800" b="0">
                <a:solidFill>
                  <a:srgbClr val="D0E5E6"/>
                </a:solidFill>
              </a:rPr>
              <a:t>连续识别、校准与行动闭环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95B78-C509-4FF9-B0E0-1CECF417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7C3C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7C3C7"/>
                </a:solidFill>
              </a:defRPr>
            </a:pPr>
            <a:r>
              <a:rPr sz="1200" b="0">
                <a:solidFill>
                  <a:srgbClr val="A7C3C7"/>
                </a:solidFill>
              </a:rPr>
              <a:t>面试方案  ·  交互网页 + 现场演示</a:t>
            </a:r>
          </a:p>
        </p:txBody>
      </p:sp>
    </p:spTree>
    <p:extLst>
      <p:ext uri="{BB962C8B-B14F-4D97-AF65-F5344CB8AC3E}">
        <p14:creationId xmlns:p14="http://schemas.microsoft.com/office/powerpoint/2010/main" val="9549858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2E5DAA-5B14-47B1-98C3-F06DADC3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39CB6-7136-4C99-9534-78BED48C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37E80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7E80"/>
                </a:solidFill>
              </a:defRPr>
            </a:pPr>
            <a:r>
              <a:rPr sz="1125" b="1">
                <a:solidFill>
                  <a:srgbClr val="137E80"/>
                </a:solidFill>
              </a:rPr>
              <a:t>01 业务问题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4FFA5-9AD2-4E78-A36F-43088DE1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E3A"/>
                </a:solidFill>
              </a:defRPr>
            </a:pPr>
            <a:r>
              <a:rPr sz="2850" b="1">
                <a:solidFill>
                  <a:srgbClr val="102E3A"/>
                </a:solidFill>
              </a:rPr>
              <a:t>传统盘点的盲区：周期、证据、情境、行动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48B3A-72B5-48C5-8560-B3D148B8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C5577-462A-4D95-B0D1-F2D96367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782"/>
                </a:solidFill>
              </a:defRPr>
            </a:pPr>
            <a:r>
              <a:rPr sz="900" b="0">
                <a:solidFill>
                  <a:srgbClr val="617782"/>
                </a:solidFill>
              </a:rPr>
              <a:t>网易 MMO 策划人才盘点 · 面试方案 / 模拟数据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DD067-F65B-4E91-B4F6-573616C0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782"/>
                </a:solidFill>
              </a:defRPr>
            </a:pPr>
            <a:r>
              <a:rPr sz="900" b="0">
                <a:solidFill>
                  <a:srgbClr val="617782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66A6F-79BB-4933-B860-576BE8DB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552700" cy="3362325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75F3F-B352-48B5-B6E9-ECD33854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72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A3958-3454-4729-964B-AF24943C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D5725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D57258"/>
                </a:solidFill>
              </a:defRPr>
            </a:pPr>
            <a:r>
              <a:rPr sz="1050" b="1">
                <a:solidFill>
                  <a:srgbClr val="D57258"/>
                </a:solidFill>
              </a:rPr>
              <a:t>时效性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B7957-FE16-4A44-A486-1CE042DE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E3A"/>
                </a:solidFill>
              </a:defRPr>
            </a:pPr>
            <a:r>
              <a:rPr sz="1875" b="1">
                <a:solidFill>
                  <a:srgbClr val="102E3A"/>
                </a:solidFill>
              </a:rPr>
              <a:t>半年快照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83AEF-F808-4092-9C2E-D268BB71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095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782"/>
                </a:solidFill>
              </a:defRPr>
            </a:pPr>
            <a:r>
              <a:rPr sz="1350" b="0">
                <a:solidFill>
                  <a:srgbClr val="617782"/>
                </a:solidFill>
              </a:rPr>
              <a:t>版本变化快，结论落后于实际能力与项目需求。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C1602-2F06-4148-A22D-8D2323B6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52600"/>
            <a:ext cx="2552700" cy="3362325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0A622-598F-4BC6-9157-32D9144E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621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0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0971B-F0F2-455B-B447-5707C280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43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E7B05D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E7B05D"/>
                </a:solidFill>
              </a:defRPr>
            </a:pPr>
            <a:r>
              <a:rPr sz="1050" b="1">
                <a:solidFill>
                  <a:srgbClr val="E7B05D"/>
                </a:solidFill>
              </a:rPr>
              <a:t>证据链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E5396-CA39-45BC-9A2A-1E9CF2DD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812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E3A"/>
                </a:solidFill>
              </a:defRPr>
            </a:pPr>
            <a:r>
              <a:rPr sz="1875" b="1">
                <a:solidFill>
                  <a:srgbClr val="102E3A"/>
                </a:solidFill>
              </a:rPr>
              <a:t>过程散失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D2B9A0-5DFB-46EA-B854-9C1B2F9C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71800"/>
            <a:ext cx="2095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782"/>
                </a:solidFill>
              </a:defRPr>
            </a:pPr>
            <a:r>
              <a:rPr sz="1350" b="0">
                <a:solidFill>
                  <a:srgbClr val="617782"/>
                </a:solidFill>
              </a:rPr>
              <a:t>跨版本协作、复盘、玩家反馈，难沉淀为可复核记录。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7DB909-8150-4ED5-B1EC-AE1D8D14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52600"/>
            <a:ext cx="2552700" cy="3362325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25B95-6084-4703-9552-2368F5B6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621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AF213A-E4A3-4A51-B318-6C42CD49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43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37E80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7E80"/>
                </a:solidFill>
              </a:defRPr>
            </a:pPr>
            <a:r>
              <a:rPr sz="1050" b="1">
                <a:solidFill>
                  <a:srgbClr val="137E80"/>
                </a:solidFill>
              </a:rPr>
              <a:t>情境差异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1F0344-ADC2-4ECE-B0BD-287744C1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E3A"/>
                </a:solidFill>
              </a:defRPr>
            </a:pPr>
            <a:r>
              <a:rPr sz="1875" b="1">
                <a:solidFill>
                  <a:srgbClr val="102E3A"/>
                </a:solidFill>
              </a:rPr>
              <a:t>一把尺子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271AE1-3ED8-4898-9A0B-B665B0EA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2095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782"/>
                </a:solidFill>
              </a:defRPr>
            </a:pPr>
            <a:r>
              <a:rPr sz="1350" b="0">
                <a:solidFill>
                  <a:srgbClr val="617782"/>
                </a:solidFill>
              </a:rPr>
              <a:t>玩法、数值、系统、叙事策划，以及项目阶段并不相同。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177732-8768-46C9-BC42-0C86200E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52600"/>
            <a:ext cx="2552700" cy="3362325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145592-116B-4E96-8AC8-9A4756BC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621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66FE13-D010-4BEA-8B61-466E7F4A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43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37E80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7E80"/>
                </a:solidFill>
              </a:defRPr>
            </a:pPr>
            <a:r>
              <a:rPr sz="1050" b="1">
                <a:solidFill>
                  <a:srgbClr val="137E80"/>
                </a:solidFill>
              </a:rPr>
              <a:t>管理动作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6B33A2-8B10-4722-B33E-761BF741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812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E3A"/>
                </a:solidFill>
              </a:defRPr>
            </a:pPr>
            <a:r>
              <a:rPr sz="1875" b="1">
                <a:solidFill>
                  <a:srgbClr val="102E3A"/>
                </a:solidFill>
              </a:rPr>
              <a:t>盘而不用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713C75-FC48-49C4-81B0-039CAFE9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71800"/>
            <a:ext cx="2095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782"/>
                </a:solidFill>
              </a:defRPr>
            </a:pPr>
            <a:r>
              <a:rPr sz="1350" b="0">
                <a:solidFill>
                  <a:srgbClr val="617782"/>
                </a:solidFill>
              </a:rPr>
              <a:t>结论没有绑定培养、轮岗、继任和复查责任人。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EBED25-43F8-4E5B-9445-0772B22D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61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81A7E3-1F79-4081-9F31-383FBB8B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05450"/>
            <a:ext cx="1015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E3A"/>
                </a:solidFill>
              </a:defRPr>
            </a:pPr>
            <a:r>
              <a:rPr sz="1650" b="1">
                <a:solidFill>
                  <a:srgbClr val="102E3A"/>
                </a:solidFill>
              </a:rPr>
              <a:t>设计目标：让每条判断都能追溯证据，让每项行动都有负责人和复查时间。</a:t>
            </a:r>
          </a:p>
        </p:txBody>
      </p:sp>
    </p:spTree>
    <p:extLst>
      <p:ext uri="{BB962C8B-B14F-4D97-AF65-F5344CB8AC3E}">
        <p14:creationId xmlns:p14="http://schemas.microsoft.com/office/powerpoint/2010/main" val="15443332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CB4A36-F67B-407C-832F-614CEDF9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4F2CE-0DC9-449B-9608-F90CFF80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37E80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7E80"/>
                </a:solidFill>
              </a:defRPr>
            </a:pPr>
            <a:r>
              <a:rPr sz="1125" b="1">
                <a:solidFill>
                  <a:srgbClr val="137E80"/>
                </a:solidFill>
              </a:rPr>
              <a:t>02 MMO 专属人才画像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A7C56-8EE6-4875-BC53-AC2864A4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E3A"/>
                </a:solidFill>
              </a:defRPr>
            </a:pPr>
            <a:r>
              <a:rPr sz="2850" b="1">
                <a:solidFill>
                  <a:srgbClr val="102E3A"/>
                </a:solidFill>
              </a:rPr>
              <a:t>同一底座 × 岗位权重 × 项目阶段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59A29-D544-4E0D-88F9-3B105E06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7D48A-686C-4ECD-8AE9-F4DA7DA2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782"/>
                </a:solidFill>
              </a:defRPr>
            </a:pPr>
            <a:r>
              <a:rPr sz="900" b="0">
                <a:solidFill>
                  <a:srgbClr val="617782"/>
                </a:solidFill>
              </a:rPr>
              <a:t>网易 MMO 策划人才盘点 · 面试方案 / 模拟数据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08113E-8AD7-4115-8E98-69AA7E4D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782"/>
                </a:solidFill>
              </a:defRPr>
            </a:pPr>
            <a:r>
              <a:rPr sz="900" b="0">
                <a:solidFill>
                  <a:srgbClr val="617782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CF3AE-5D53-4191-85F1-8CB088D3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71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51E51-2721-4B6E-92EF-C46CCCFD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共同底座：玩家洞察 · 协作交付 · 复盘迭代 · 风险意识 · 价值观行为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C99C0-6C6A-44E9-81AB-1730D150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7E80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37E80"/>
                </a:solidFill>
              </a:defRPr>
            </a:pPr>
            <a:r>
              <a:rPr sz="1200" b="1">
                <a:solidFill>
                  <a:srgbClr val="137E80"/>
                </a:solidFill>
              </a:rPr>
              <a:t>岗位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A7000-6B63-4EF6-9C52-67DFB4EF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66975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7E80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37E80"/>
                </a:solidFill>
              </a:defRPr>
            </a:pPr>
            <a:r>
              <a:rPr sz="1200" b="1">
                <a:solidFill>
                  <a:srgbClr val="137E80"/>
                </a:solidFill>
              </a:rPr>
              <a:t>突出能力证据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BE114-9B5D-41E7-AE0E-CFBD2D79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669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7E80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37E80"/>
                </a:solidFill>
              </a:defRPr>
            </a:pPr>
            <a:r>
              <a:rPr sz="1200" b="1">
                <a:solidFill>
                  <a:srgbClr val="137E80"/>
                </a:solidFill>
              </a:rPr>
              <a:t>阶段性判读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7E060-C921-4860-B20C-041ABCB3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108204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0CF53-860D-4521-8966-08B343CC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62275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E3A"/>
                </a:solidFill>
              </a:defRPr>
            </a:pPr>
            <a:r>
              <a:rPr sz="1350" b="1">
                <a:solidFill>
                  <a:srgbClr val="102E3A"/>
                </a:solidFill>
              </a:rPr>
              <a:t>系统策划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96EF0-C1BD-454F-AD5B-DAF2B3A6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62275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782"/>
                </a:solidFill>
              </a:defRPr>
            </a:pPr>
            <a:r>
              <a:rPr sz="1200" b="0">
                <a:solidFill>
                  <a:srgbClr val="617782"/>
                </a:solidFill>
              </a:rPr>
              <a:t>规则架构、复杂度控制、长期玩法可维护性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23297-5366-49B2-ACFD-02EA0BAE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6227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782"/>
                </a:solidFill>
              </a:defRPr>
            </a:pPr>
            <a:r>
              <a:rPr sz="1200" b="0">
                <a:solidFill>
                  <a:srgbClr val="617782"/>
                </a:solidFill>
              </a:rPr>
              <a:t>立项期看结构假设；运营期看迭代成本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AA0639-4E2D-4AE7-AB15-1232073C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8204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ED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867C2B-2476-4A9F-9A43-C27079F8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E3A"/>
                </a:solidFill>
              </a:defRPr>
            </a:pPr>
            <a:r>
              <a:rPr sz="1350" b="1">
                <a:solidFill>
                  <a:srgbClr val="102E3A"/>
                </a:solidFill>
              </a:rPr>
              <a:t>数值策划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F05FC-2F4E-4F0B-B00B-B8CD13B3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86175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782"/>
                </a:solidFill>
              </a:defRPr>
            </a:pPr>
            <a:r>
              <a:rPr sz="1200" b="0">
                <a:solidFill>
                  <a:srgbClr val="617782"/>
                </a:solidFill>
              </a:rPr>
              <a:t>经济平衡、数据验证、风险预警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C22832-F312-4028-917F-AA8B2AC6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8617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782"/>
                </a:solidFill>
              </a:defRPr>
            </a:pPr>
            <a:r>
              <a:rPr sz="1200" b="0">
                <a:solidFill>
                  <a:srgbClr val="617782"/>
                </a:solidFill>
              </a:rPr>
              <a:t>测试期看验证速度；运营期看通胀与留存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EA64A0-7B1C-4139-8555-357E92CC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8204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8688D2-ACDD-4BB5-8FF8-0FD328CD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0075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E3A"/>
                </a:solidFill>
              </a:defRPr>
            </a:pPr>
            <a:r>
              <a:rPr sz="1350" b="1">
                <a:solidFill>
                  <a:srgbClr val="102E3A"/>
                </a:solidFill>
              </a:rPr>
              <a:t>玩法策划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A4021D-56F4-4B02-A840-B44F7617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10075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782"/>
                </a:solidFill>
              </a:defRPr>
            </a:pPr>
            <a:r>
              <a:rPr sz="1200" b="0">
                <a:solidFill>
                  <a:srgbClr val="617782"/>
                </a:solidFill>
              </a:rPr>
              <a:t>核心循环、玩家体验、快速原型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B2950F-3A1C-4D4F-90EF-F73022D6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1007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782"/>
                </a:solidFill>
              </a:defRPr>
            </a:pPr>
            <a:r>
              <a:rPr sz="1200" b="0">
                <a:solidFill>
                  <a:srgbClr val="617782"/>
                </a:solidFill>
              </a:rPr>
              <a:t>孵化期看创新试错；上线期看可用性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628D0D-50AE-43D2-8321-B4803126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ED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9230EF-0273-40F8-9429-FC6F6102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33975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E3A"/>
                </a:solidFill>
              </a:defRPr>
            </a:pPr>
            <a:r>
              <a:rPr sz="1350" b="1">
                <a:solidFill>
                  <a:srgbClr val="102E3A"/>
                </a:solidFill>
              </a:rPr>
              <a:t>叙事 / 关卡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191829-AF94-48E2-969B-4F2DC121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33975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782"/>
                </a:solidFill>
              </a:defRPr>
            </a:pPr>
            <a:r>
              <a:rPr sz="1200" b="0">
                <a:solidFill>
                  <a:srgbClr val="617782"/>
                </a:solidFill>
              </a:rPr>
              <a:t>世界观一致性、内容节奏、跨工种落地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04D5BE-615B-49E8-A98E-F8E12401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3397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782"/>
                </a:solidFill>
              </a:defRPr>
            </a:pPr>
            <a:r>
              <a:rPr sz="1200" b="0">
                <a:solidFill>
                  <a:srgbClr val="617782"/>
                </a:solidFill>
              </a:rPr>
              <a:t>立项期看设定；版本期看交付与反馈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805ECA-37A2-4BE7-A17B-1ED3EE40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D57258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D57258"/>
                </a:solidFill>
              </a:defRPr>
            </a:pPr>
            <a:r>
              <a:rPr sz="1200" b="1">
                <a:solidFill>
                  <a:srgbClr val="D57258"/>
                </a:solidFill>
              </a:rPr>
              <a:t>不同权重是“讨论起点”，不自动生成晋升结论。</a:t>
            </a:r>
          </a:p>
        </p:txBody>
      </p:sp>
    </p:spTree>
    <p:extLst>
      <p:ext uri="{BB962C8B-B14F-4D97-AF65-F5344CB8AC3E}">
        <p14:creationId xmlns:p14="http://schemas.microsoft.com/office/powerpoint/2010/main" val="6148860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A077FB-198B-46B4-9A47-739C9278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C5065-65CF-4D5D-B845-4DC02B42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37E80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7E80"/>
                </a:solidFill>
              </a:defRPr>
            </a:pPr>
            <a:r>
              <a:rPr sz="1125" b="1">
                <a:solidFill>
                  <a:srgbClr val="137E80"/>
                </a:solidFill>
              </a:rPr>
              <a:t>03 连续盘点机制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88F99-7C98-454B-B183-7DA9B7AF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E3A"/>
                </a:solidFill>
              </a:defRPr>
            </a:pPr>
            <a:r>
              <a:rPr sz="2850" b="1">
                <a:solidFill>
                  <a:srgbClr val="102E3A"/>
                </a:solidFill>
              </a:rPr>
              <a:t>轻量采集，定期校准，结果回到业务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DC86B-1139-4F0D-8EB5-2921F2E1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C32CC-21EA-4B37-8EC0-45C147CC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782"/>
                </a:solidFill>
              </a:defRPr>
            </a:pPr>
            <a:r>
              <a:rPr sz="900" b="0">
                <a:solidFill>
                  <a:srgbClr val="617782"/>
                </a:solidFill>
              </a:rPr>
              <a:t>网易 MMO 策划人才盘点 · 面试方案 / 模拟数据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C082E-0333-452C-ACCE-32B120B6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782"/>
                </a:solidFill>
              </a:defRPr>
            </a:pPr>
            <a:r>
              <a:rPr sz="900" b="0">
                <a:solidFill>
                  <a:srgbClr val="617782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63E71-D9D8-4734-817E-A2788C9E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684BC-05F9-4F90-A10C-7EC0AAF8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0225"/>
            <a:ext cx="4953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7B0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DB1AF-1B81-4637-A913-3A6BB0CF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764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E3A"/>
                </a:solidFill>
              </a:defRPr>
            </a:pPr>
            <a:r>
              <a:rPr sz="1425" b="1">
                <a:solidFill>
                  <a:srgbClr val="102E3A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8A1E5-918C-4811-8094-A431B943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478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E3A"/>
                </a:solidFill>
              </a:defRPr>
            </a:pPr>
            <a:r>
              <a:rPr sz="1725" b="1">
                <a:solidFill>
                  <a:srgbClr val="102E3A"/>
                </a:solidFill>
              </a:rPr>
              <a:t>事件触发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08475-3332-4C62-AC29-698FE42F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9547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782"/>
                </a:solidFill>
              </a:defRPr>
            </a:pPr>
            <a:r>
              <a:rPr sz="1425" b="0">
                <a:solidFill>
                  <a:srgbClr val="617782"/>
                </a:solidFill>
              </a:rPr>
              <a:t>版本里程碑、复盘、玩家反馈、关键协作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B8293E-EC16-4928-9DC6-312FCE12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82040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2AC90A-D056-4532-9BBD-798C684C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4953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9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948F7-BBEC-44A9-B313-952D8B71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E3A"/>
                </a:solidFill>
              </a:defRPr>
            </a:pPr>
            <a:r>
              <a:rPr sz="1425" b="1">
                <a:solidFill>
                  <a:srgbClr val="102E3A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0C2F27-FE80-4298-BB7F-8AA0BBF7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7652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E3A"/>
                </a:solidFill>
              </a:defRPr>
            </a:pPr>
            <a:r>
              <a:rPr sz="1725" b="1">
                <a:solidFill>
                  <a:srgbClr val="102E3A"/>
                </a:solidFill>
              </a:rPr>
              <a:t>证据入库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AFE2D-DDF2-407F-B01B-A9A39407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241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782"/>
                </a:solidFill>
              </a:defRPr>
            </a:pPr>
            <a:r>
              <a:rPr sz="1425" b="0">
                <a:solidFill>
                  <a:srgbClr val="617782"/>
                </a:solidFill>
              </a:rPr>
              <a:t>原始事实、来源、时间、项目阶段、可信度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1DBB2-7CA5-419D-A682-93AFDE94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82040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0B0AA-ADDE-48E6-B0CB-CCF27CAC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57575"/>
            <a:ext cx="4953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9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EE1432-88E7-4300-8FF7-97947865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337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E3A"/>
                </a:solidFill>
              </a:defRPr>
            </a:pPr>
            <a:r>
              <a:rPr sz="1425" b="1">
                <a:solidFill>
                  <a:srgbClr val="102E3A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CFF55D-1FF0-4BF9-A8A2-C5622D9A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E3A"/>
                </a:solidFill>
              </a:defRPr>
            </a:pPr>
            <a:r>
              <a:rPr sz="1725" b="1">
                <a:solidFill>
                  <a:srgbClr val="102E3A"/>
                </a:solidFill>
              </a:rPr>
              <a:t>月度脉冲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34AA5B-6776-42D6-A7A2-C0191F88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5282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782"/>
                </a:solidFill>
              </a:defRPr>
            </a:pPr>
            <a:r>
              <a:rPr sz="1425" b="0">
                <a:solidFill>
                  <a:srgbClr val="617782"/>
                </a:solidFill>
              </a:rPr>
              <a:t>HRBP + 主管 15 分钟看变化与缺口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E4C4CC-287F-4BD2-90AA-2FEC82B0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1082040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E46A25-CF3F-44E7-80DB-ECB16F89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4953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9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59AB27-6650-4C47-995B-31788E61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E3A"/>
                </a:solidFill>
              </a:defRPr>
            </a:pPr>
            <a:r>
              <a:rPr sz="1425" b="1">
                <a:solidFill>
                  <a:srgbClr val="102E3A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F3F072-2DFF-4DE0-882D-DA635E7D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338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E3A"/>
                </a:solidFill>
              </a:defRPr>
            </a:pPr>
            <a:r>
              <a:rPr sz="1725" b="1">
                <a:solidFill>
                  <a:srgbClr val="102E3A"/>
                </a:solidFill>
              </a:rPr>
              <a:t>季度校准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5B8BD5-578C-4537-B650-4B22D363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38150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782"/>
                </a:solidFill>
              </a:defRPr>
            </a:pPr>
            <a:r>
              <a:rPr sz="1425" b="0">
                <a:solidFill>
                  <a:srgbClr val="617782"/>
                </a:solidFill>
              </a:rPr>
              <a:t>跨负责人讨论；保留异议与决策记录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76D774-E3FE-443A-AECD-69711E1A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082040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334802-1CDA-4615-B037-8C2E13F7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14925"/>
            <a:ext cx="4953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9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8FBD68-0B2C-42BD-A645-21188BD4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911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E3A"/>
                </a:solidFill>
              </a:defRPr>
            </a:pPr>
            <a:r>
              <a:rPr sz="1425" b="1">
                <a:solidFill>
                  <a:srgbClr val="102E3A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882635-846D-4F36-9520-FE4A8D45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625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E3A"/>
                </a:solidFill>
              </a:defRPr>
            </a:pPr>
            <a:r>
              <a:rPr sz="1725" b="1">
                <a:solidFill>
                  <a:srgbClr val="102E3A"/>
                </a:solidFill>
              </a:rPr>
              <a:t>行动复查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85EFD7-2773-4475-98EC-3C698F52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21017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782"/>
                </a:solidFill>
              </a:defRPr>
            </a:pPr>
            <a:r>
              <a:rPr sz="1425" b="0">
                <a:solidFill>
                  <a:srgbClr val="617782"/>
                </a:solidFill>
              </a:rPr>
              <a:t>培养、轮岗、继任；责任人和到期回访</a:t>
            </a:r>
          </a:p>
        </p:txBody>
      </p:sp>
    </p:spTree>
    <p:extLst>
      <p:ext uri="{BB962C8B-B14F-4D97-AF65-F5344CB8AC3E}">
        <p14:creationId xmlns:p14="http://schemas.microsoft.com/office/powerpoint/2010/main" val="1505558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D19D74-3979-4044-A903-CF48AF77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4AE95-BB9A-4BCB-82C6-D306A660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37E80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7E80"/>
                </a:solidFill>
              </a:defRPr>
            </a:pPr>
            <a:r>
              <a:rPr sz="1125" b="1">
                <a:solidFill>
                  <a:srgbClr val="137E80"/>
                </a:solidFill>
              </a:rPr>
              <a:t>04 网页现场演示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7710C-BB4C-4320-A214-867B6A07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E3A"/>
                </a:solidFill>
              </a:defRPr>
            </a:pPr>
            <a:r>
              <a:rPr sz="2850" b="1">
                <a:solidFill>
                  <a:srgbClr val="102E3A"/>
                </a:solidFill>
              </a:rPr>
              <a:t>三分钟完成一次“从信号到行动”的闭环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0C869-BE87-4622-A390-1E3A1D74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BEC39-8C96-431B-AFB0-6F6AF4F5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782"/>
                </a:solidFill>
              </a:defRPr>
            </a:pPr>
            <a:r>
              <a:rPr sz="900" b="0">
                <a:solidFill>
                  <a:srgbClr val="617782"/>
                </a:solidFill>
              </a:rPr>
              <a:t>网易 MMO 策划人才盘点 · 面试方案 / 模拟数据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19585-E441-499B-BD5B-229297D0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782"/>
                </a:solidFill>
              </a:defRPr>
            </a:pPr>
            <a:r>
              <a:rPr sz="900" b="0">
                <a:solidFill>
                  <a:srgbClr val="617782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AD481-47E6-488D-9D5A-0A6BA17E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33718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89D81-C379-4A41-9784-7E89DAAA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9775"/>
            <a:ext cx="542925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137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75F30-205A-45AE-86CD-F4C23CFB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9D25A-5F6C-4656-898D-5FD8F56B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E3A"/>
                </a:solidFill>
              </a:defRPr>
            </a:pPr>
            <a:r>
              <a:rPr sz="1875" b="1">
                <a:solidFill>
                  <a:srgbClr val="102E3A"/>
                </a:solidFill>
              </a:rPr>
              <a:t>上传 / 确认证据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B8DEE-6896-4D75-BCB0-4C46B2E1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19475"/>
            <a:ext cx="2905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782"/>
                </a:solidFill>
              </a:defRPr>
            </a:pPr>
            <a:r>
              <a:rPr sz="1425" b="0">
                <a:solidFill>
                  <a:srgbClr val="617782"/>
                </a:solidFill>
              </a:rPr>
              <a:t>导入 CSV 或打开待确认信号，核对来源后进入人才证据链。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757C4-04FD-473A-8E14-64D69F63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81175"/>
            <a:ext cx="33718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67CD91-5AC6-4E98-A32E-EE951615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09775"/>
            <a:ext cx="542925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E7B0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D2762-5BB4-4290-9A5A-E3992C42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14550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19D16E-43DC-4353-A43E-99E2A1C1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E3A"/>
                </a:solidFill>
              </a:defRPr>
            </a:pPr>
            <a:r>
              <a:rPr sz="1875" b="1">
                <a:solidFill>
                  <a:srgbClr val="102E3A"/>
                </a:solidFill>
              </a:rPr>
              <a:t>诊断 / 人工校准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C7CB52-6398-4D20-B5BB-D958C45E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19475"/>
            <a:ext cx="2905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782"/>
                </a:solidFill>
              </a:defRPr>
            </a:pPr>
            <a:r>
              <a:rPr sz="1425" b="0">
                <a:solidFill>
                  <a:srgbClr val="617782"/>
                </a:solidFill>
              </a:rPr>
              <a:t>看岗位阶段权重、九宫格和风险；修改判断时必须写理由。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4970BA-2078-4095-9F5A-C4409E17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81175"/>
            <a:ext cx="33718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FED798-0DAA-4A99-A922-82B431DF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9775"/>
            <a:ext cx="542925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137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6D169A-362F-481F-A0B4-F6D48528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A3A21-E949-4CA6-BB85-E1FDA350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813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E3A"/>
                </a:solidFill>
              </a:defRPr>
            </a:pPr>
            <a:r>
              <a:rPr sz="1875" b="1">
                <a:solidFill>
                  <a:srgbClr val="102E3A"/>
                </a:solidFill>
              </a:rPr>
              <a:t>生成 / 追踪行动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D5D76E-ADD8-44E9-9FFB-37199907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19475"/>
            <a:ext cx="2905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782"/>
                </a:solidFill>
              </a:defRPr>
            </a:pPr>
            <a:r>
              <a:rPr sz="1425" b="0">
                <a:solidFill>
                  <a:srgbClr val="617782"/>
                </a:solidFill>
              </a:rPr>
              <a:t>给负责人、截止日和复查点；报告可打印，记录可回溯。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BA6C6C-29BB-4005-819A-F89AA730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6108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071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5A181D-B981-47DE-BA5C-EAF20FFB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292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现场入口：drs1023.github.io/talent-review/  ·  全部人员与事件均为模拟数据</a:t>
            </a:r>
          </a:p>
        </p:txBody>
      </p:sp>
    </p:spTree>
    <p:extLst>
      <p:ext uri="{BB962C8B-B14F-4D97-AF65-F5344CB8AC3E}">
        <p14:creationId xmlns:p14="http://schemas.microsoft.com/office/powerpoint/2010/main" val="5584171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B83C2-F62B-4515-BC9D-8ECA884F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10146-BB3A-4803-8038-E90D20A7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37E80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7E80"/>
                </a:solidFill>
              </a:defRPr>
            </a:pPr>
            <a:r>
              <a:rPr sz="1125" b="1">
                <a:solidFill>
                  <a:srgbClr val="137E80"/>
                </a:solidFill>
              </a:rPr>
              <a:t>05 AI 边界与试点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DE8F4-F9E8-412B-94BF-646B2F3C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E3A"/>
                </a:solidFill>
              </a:defRPr>
            </a:pPr>
            <a:r>
              <a:rPr sz="2850" b="1">
                <a:solidFill>
                  <a:srgbClr val="102E3A"/>
                </a:solidFill>
              </a:rPr>
              <a:t>AI 辅助组织证据，人对人才决策负责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265F8-C28F-4E22-839C-6ABBD448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7D769-71A8-44A7-AD76-E11637D9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782"/>
                </a:solidFill>
              </a:defRPr>
            </a:pPr>
            <a:r>
              <a:rPr sz="900" b="0">
                <a:solidFill>
                  <a:srgbClr val="617782"/>
                </a:solidFill>
              </a:rPr>
              <a:t>网易 MMO 策划人才盘点 · 面试方案 / 模拟数据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782F1-1543-4908-9737-75004437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782"/>
                </a:solidFill>
              </a:defRPr>
            </a:pPr>
            <a:r>
              <a:rPr sz="900" b="0">
                <a:solidFill>
                  <a:srgbClr val="617782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8F079-CBA4-4396-93FD-8D06B5D1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143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5A85A-567B-4C0A-80DE-6083FF14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A0F13-0909-44C9-87FD-829C492F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459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37E80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7E80"/>
                </a:solidFill>
              </a:defRPr>
            </a:pPr>
            <a:r>
              <a:rPr sz="1050" b="1">
                <a:solidFill>
                  <a:srgbClr val="137E80"/>
                </a:solidFill>
              </a:rPr>
              <a:t>可以做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D9020-E426-4D73-A4B4-1F238140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E3A"/>
                </a:solidFill>
              </a:defRPr>
            </a:pPr>
            <a:r>
              <a:rPr sz="1875" b="1">
                <a:solidFill>
                  <a:srgbClr val="102E3A"/>
                </a:solidFill>
              </a:rPr>
              <a:t>证据整理与追问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DABEA-1839-4C8C-8E33-914D32CF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4686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782"/>
                </a:solidFill>
              </a:defRPr>
            </a:pPr>
            <a:r>
              <a:rPr sz="1350" b="0">
                <a:solidFill>
                  <a:srgbClr val="617782"/>
                </a:solidFill>
              </a:rPr>
              <a:t>基于已确认事件，生成优势、风险、证据缺口和培养建议；标注不确定性。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AA8B3-1C39-4B91-99B4-9077BC4D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6400"/>
            <a:ext cx="5143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AE292-F8F0-4754-93DE-9C364D94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859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72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9587F-E363-4FBA-9DB7-813450DD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66900"/>
            <a:ext cx="459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D5725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D57258"/>
                </a:solidFill>
              </a:defRPr>
            </a:pPr>
            <a:r>
              <a:rPr sz="1050" b="1">
                <a:solidFill>
                  <a:srgbClr val="D57258"/>
                </a:solidFill>
              </a:rPr>
              <a:t>不能做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6E07A-97CF-4DAB-9948-E78E224D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E3A"/>
                </a:solidFill>
              </a:defRPr>
            </a:pPr>
            <a:r>
              <a:rPr sz="1875" b="1">
                <a:solidFill>
                  <a:srgbClr val="102E3A"/>
                </a:solidFill>
              </a:rPr>
              <a:t>自动定级与淘汰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59C56-F06A-4C05-9772-2470DAAF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95600"/>
            <a:ext cx="4686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782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782"/>
                </a:solidFill>
              </a:defRPr>
            </a:pPr>
            <a:r>
              <a:rPr sz="1350" b="0">
                <a:solidFill>
                  <a:srgbClr val="617782"/>
                </a:solidFill>
              </a:rPr>
              <a:t>不让模型直接决定绩效、晋升或去留；缺证据时输出“需补充”，不假装确定。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B5F791-30B7-4E9B-B037-56AA9001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6108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9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DE1D1-C9A3-4402-8CBB-2503F575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E3A"/>
                </a:solidFill>
              </a:defRPr>
            </a:pPr>
            <a:r>
              <a:rPr sz="1725" b="1">
                <a:solidFill>
                  <a:srgbClr val="102E3A"/>
                </a:solidFill>
              </a:rPr>
              <a:t>试点：选一个 MMO 策划小组跑 1 个版本周期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9EC807-9B2E-4A00-AD28-CA399D53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53075"/>
            <a:ext cx="1015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E3A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02E3A"/>
                </a:solidFill>
              </a:defRPr>
            </a:pPr>
            <a:r>
              <a:rPr sz="1350" b="0">
                <a:solidFill>
                  <a:srgbClr val="102E3A"/>
                </a:solidFill>
              </a:rPr>
              <a:t>观察：证据覆盖率 · 待确认信号处理时长 · 行动到期完成率 · 校准异议率</a:t>
            </a:r>
          </a:p>
        </p:txBody>
      </p:sp>
    </p:spTree>
    <p:extLst>
      <p:ext uri="{BB962C8B-B14F-4D97-AF65-F5344CB8AC3E}">
        <p14:creationId xmlns:p14="http://schemas.microsoft.com/office/powerpoint/2010/main" val="2028062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2026-10-08T12:00:15.9030000Z</dcterms:created>
  <dcterms:modified xsi:type="dcterms:W3CDTF">2026-10-08T12:00:15.9030000Z</dcterms:modified>
</coreProperties>
</file>